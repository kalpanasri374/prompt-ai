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730A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Meta AI</c:v>
                  </c:pt>
                  <c:pt idx="1">
                    <c:v>DeepSeek</c:v>
                  </c:pt>
                  <c:pt idx="2">
                    <c:v>Copilot</c:v>
                  </c:pt>
                  <c:pt idx="3">
                    <c:v>Perplexity</c:v>
                  </c:pt>
                  <c:pt idx="4">
                    <c:v>Grok</c:v>
                  </c:pt>
                  <c:pt idx="5">
                    <c:v>Claude</c:v>
                  </c:pt>
                  <c:pt idx="6">
                    <c:v>Gemini</c:v>
                  </c:pt>
                  <c:pt idx="7">
                    <c:v>ChatGPT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</c:v>
                </c:pt>
                <c:pt idx="1">
                  <c:v>0.4</c:v>
                </c:pt>
                <c:pt idx="2">
                  <c:v>1.3</c:v>
                </c:pt>
                <c:pt idx="3">
                  <c:v>2</c:v>
                </c:pt>
                <c:pt idx="4">
                  <c:v>2.8</c:v>
                </c:pt>
                <c:pt idx="5">
                  <c:v>10.2</c:v>
                </c:pt>
                <c:pt idx="6">
                  <c:v>27.6</c:v>
                </c:pt>
                <c:pt idx="7">
                  <c:v>51.5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730A3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Claude (Opus/Sonnet/Haiku)</c:v>
                  </c:pt>
                  <c:pt idx="1">
                    <c:v>GPT-5.4 / GPT-5.5</c:v>
                  </c:pt>
                  <c:pt idx="2">
                    <c:v>Gemini 3.1 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2103120"/>
            <a:ext cx="5669280" cy="5669280"/>
          </a:xfrm>
          <a:prstGeom prst="ellipse">
            <a:avLst/>
          </a:prstGeom>
          <a:solidFill>
            <a:srgbClr val="EEF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4572000" cy="4572000"/>
          </a:xfrm>
          <a:prstGeom prst="ellipse">
            <a:avLst/>
          </a:prstGeom>
          <a:solidFill>
            <a:srgbClr val="EEF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GUIDE  ·  SEPTEMBER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Model Landscape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0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vs. Closed, Free vs. Paid, and How to Pick the Right LLM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· Claude · Gemini · Llama · Qwen · DeepSeek · Mistral — and how to choose between them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vs. Closed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split means, and why it matters for cost, privacy and control.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2920" y="178308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10" name="Text 8"/>
          <p:cNvSpPr/>
          <p:nvPr/>
        </p:nvSpPr>
        <p:spPr>
          <a:xfrm>
            <a:off x="4541520" y="196596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1520" y="251460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Claude and Gemini model families — what each one offers.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7200" y="178308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13" name="Text 11"/>
          <p:cNvSpPr/>
          <p:nvPr/>
        </p:nvSpPr>
        <p:spPr>
          <a:xfrm>
            <a:off x="8305800" y="196596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World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5800" y="251460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Llama, Qwen, DeepSeek, GLM, Mistral, Gemma — free to run, yours to control.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0624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vs. Paid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75488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free, what costs $20/month, and what the API actually charges.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2920" y="402336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19" name="Text 17"/>
          <p:cNvSpPr/>
          <p:nvPr/>
        </p:nvSpPr>
        <p:spPr>
          <a:xfrm>
            <a:off x="4541520" y="420624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&amp; Cost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41520" y="475488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winning market share, who's cheapest, who's priciest.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77200" y="4023360"/>
            <a:ext cx="3535680" cy="2011680"/>
          </a:xfrm>
          <a:prstGeom prst="roundRect">
            <a:avLst>
              <a:gd name="adj" fmla="val 3182"/>
            </a:avLst>
          </a:prstGeom>
          <a:solidFill>
            <a:srgbClr val="3730A3"/>
          </a:solidFill>
          <a:ln/>
        </p:spPr>
      </p:sp>
      <p:sp>
        <p:nvSpPr>
          <p:cNvPr id="22" name="Text 20"/>
          <p:cNvSpPr/>
          <p:nvPr/>
        </p:nvSpPr>
        <p:spPr>
          <a:xfrm>
            <a:off x="8305800" y="4206240"/>
            <a:ext cx="307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One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05800" y="4754880"/>
            <a:ext cx="307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decision guide, plus a one-page cheat sheet.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SPLIT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vs. Closed-Source Models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4279392"/>
          </a:xfrm>
          <a:prstGeom prst="roundRect">
            <a:avLst>
              <a:gd name="adj" fmla="val 1496"/>
            </a:avLst>
          </a:prstGeom>
          <a:solidFill>
            <a:srgbClr val="EEF0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53312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(Proprietary)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493776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access it through an app or API — the model's weights stay private with the company. They control updates, pricing and availability.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GPT, Claude, Gemini.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top-tier performance without managing any infrastructure yourself.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4279392"/>
          </a:xfrm>
          <a:prstGeom prst="roundRect">
            <a:avLst>
              <a:gd name="adj" fmla="val 1496"/>
            </a:avLst>
          </a:prstGeom>
          <a:solidFill>
            <a:srgbClr val="EEF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19202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22592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(Open-Weight)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87168"/>
            <a:ext cx="493776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weights are published — anyone can download, inspect, fine-tune, and run it on their own hardware (or a cloud GPU).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Llama, Qwen, DeepSeek, Mistral, Gemma, GLM.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cost control at scale, privacy, customization, offline use.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FAMILY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OpenAI: GPT Models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2103120"/>
                <a:gridCol w="210312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GPT-5.5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1M tokens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$5.00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$30.00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Frontier reasoning, complex professional work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GPT-5.5 Pro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1M tokens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$15–$30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$90–$180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Maximum available capability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GPT-5.4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1M tokens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$2.50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$15.00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Balanced everyday assistant / coding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GPT-5.4 Mini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1M tokens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$0.375–$0.75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$2.25–$4.50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Fast, cheap everyday tasks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GPT-5.4 Nano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1M tokens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$0.10–$0.20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$0.625–$1.25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Bulk / simple tasks — cheapest GPT tier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· Accessible via ChatGPT (app) and the OpenAI API · Prices as of September 2026.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FAMILY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Anthropic: Claude Models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2103120"/>
                <a:gridCol w="210312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Claude Opus 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200K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$5.00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$25.00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Flagship — hardest reasoning &amp; agentic work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Claude Sonnet 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200K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$2.00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Best balance of intelligence &amp; cost (powers many coding tools)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Claude Haiku 4.5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200K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$5.00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Fastest, most affordable Claude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Claude Fable 5.1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200K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$50.00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Specialized / creative-writing tier, limited availability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· Accessible via Claude.ai (app) and the Claude API · Batch requests get a 50% discount.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FAMILY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Google: Gemini Models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2103120"/>
                <a:gridCol w="210312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Gemini 3.1 Pro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2M tokens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$2–$4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$12–$18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Largest context window of any major model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Gemini 3 Pro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$2.00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$12.00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Flagship reasoning, paid access only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Gemini 3 Flash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$3.00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Fast, everyday use — has a free tier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Gemini 3.1 Flash-Lite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$1.50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Cheapest Gemini — free tier available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· Accessible via the Gemini app and Google AI Studio / Vertex AI · Context caching cuts input cost up to 90%.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Open-Source World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3017520"/>
                <a:gridCol w="4023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Family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Maker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License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Known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Llama 3.3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Meta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Custom (free &lt; 700M MAU)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Most widely deployed open model; general-purpose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Qwen 3.6–3.8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Alibaba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Open, commercial use OK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Reasoning competitive with GPT-5.5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DeepSeek V4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DeepSeek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Open, commercial use OK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Leads open benchmarks on math &amp; reasoning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GLM-5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Zhipu (Tsinghua)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Open, commercial use OK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Matches Claude Opus on coding benchmarks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Mistral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Mistral AI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Apache 2.0 — fully open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Strong multilingual performance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Gemma 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Google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 (Gemma license)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Small, efficient — built for on-device/edge use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can be self-hosted for free (Ollama, LM Studio, Hugging Face) — you only pay for the compute you run them 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COSTS WHAT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Free to Use?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29384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9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web/app chat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12080" y="1737360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and Gemini all offer a free tier in their consumer apps — usage limits apply, and you usually get an older/smaller model.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70048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~$20/month consumer tier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12080" y="2670048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Plus, Claude Pro, and Gemini AI Pro (~$19.99) all sit around $20/month for higher limits and flagship model access.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602736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12080" y="3602736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Pro ($200), Claude Max ($100–200), Gemini AI Ultra (~$200–250) — for power users and highest usage limits.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27448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535424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Pay-per-token API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12080" y="4535424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 — you pay only for what you use, priced per million tokens (see the model tables above). Best for building your own apps.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660136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660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468112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= free model, paid compute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212080" y="5468112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 costs nothing — but you pay for the GPU/server to run it, whether your own hardware or a cloud provider.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Access Each Model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20240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53312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/ Chat UI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48716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 · claude.ai · gemini.google.com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free, start chatting immediately — no code required. Best for everyday use.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192024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22592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48716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 · platform.claude.com · ai.google.dev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 API key, pay per token, build it into your own app — exactly what our workshop's chatbot does.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160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3312" y="4142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Fast/Free Aggregators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72744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Groq, OpenRouter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often free or very cheap access to open models like Llama — this is what powers our workshop's Groq-based chatbot!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977640"/>
            <a:ext cx="5394960" cy="2039112"/>
          </a:xfrm>
          <a:prstGeom prst="roundRect">
            <a:avLst>
              <a:gd name="adj" fmla="val 3139"/>
            </a:avLst>
          </a:prstGeom>
          <a:solidFill>
            <a:srgbClr val="EEF0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088" y="416052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22592" y="41422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Self-Hosting (Open Models)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46520" y="4727448"/>
            <a:ext cx="493776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LM Studio · Hugging Face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weights, run entirely on your own machine or server — full privacy, no per-token cost.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WINNING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Widely Used: Chatbot Market Share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First Page Sage, U.S. usage share, September 2026. ChatGPT has fallen from 67.1% in January 2026 as Gemini and Claude gain ground.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MINDSHARE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Widely Followed in the Open-Source Community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29384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9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&amp; DeepSeek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12080" y="1737360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talked-about open models right now — near-frontier reasoning, fully downloadable, and free to fine-tune.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62072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70048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12080" y="2670048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family remains the most widely deployed open model in production systems worldwide.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602736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12080" y="3602736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for its fully permissive Apache 2.0 license — zero restrictions on commercial use.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727448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535424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12080" y="4535424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gaining attention for coding performance that rivals closed frontier models.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66013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660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5468112"/>
            <a:ext cx="3657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developers care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212080" y="5468112"/>
            <a:ext cx="6400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per-token cost at scale, full data privacy, offline capability, and the freedom to inspect or modify the model itself.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TOKEN-EFFICIENT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Cheapest Models (Lowest Cost per Token)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  <a:gridCol w="2606040"/>
                <a:gridCol w="2606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Qwen3.7 Flash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Open-source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$0.03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$0.13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Ministral 3B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Open-source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GPT-5.4 Nano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Closed (OpenAI)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$0.10–$0.20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$0.625–$1.25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Gemini 3.1 Flash-Lite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Closed (Google)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$1.50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DeepSeek V3.2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Open-source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$0.28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$0.42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Claude Haiku 4.5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Closed (Anthropic)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$5.00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Self-hosting an open model (Qwen, Llama, Mistral) can push your marginal per-token cost to near-zero — you only pay for compute.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TIER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Priciest Models (Hardest Problems)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286000"/>
                <a:gridCol w="2286000"/>
                <a:gridCol w="3566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 $/MTok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So Expensive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OpenAI o1-pro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$150.00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$600.00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Maximum-depth reasoning, legacy premium tier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GPT-5.5 Pro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$15–$30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$90–$180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OpenAI's most capable current model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OpenAI o3-pro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$20.00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$80.00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Extended reasoning for the hardest problems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Claude Fable / Mythos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$10.00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$50.00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Specialized, limited-availability tier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Claude Opus 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$5.00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$25.00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Anthropic's flagship reasoning model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pricing reflects deeper reasoning and compute per response — reserve these for genuinely hard problems, not everyday chat.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IT CAN READ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 Comparison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= how much text (in tokens) a model can “see” at once, roughly in millions of tokens. Gemini 3.1 Pro currently leads at 2M.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Should I Actually Use?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51660"/>
            <a:ext cx="548640" cy="54864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51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chat &amp; Q&amp;A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12080" y="17373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free tier — ChatGPT, Claude, or Gemini free — is plenty.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2890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289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5146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 agentic tasks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12080" y="25146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Sonnet/Opus, GPT-5.4/5.5, or open GLM-5 — all strong at code.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061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061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2918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bulk tasks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12080" y="32918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/ Mini / Flash-Lite / Haiku tiers — classification, extraction, simple summarizing.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183380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833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069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documents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12080" y="4069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 — its 2M context window fits entire books or codebases.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96062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9606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4846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offline / scale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212080" y="48463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open models (Llama, Qwen, Mistral) via Ollama — no data leaves your machine.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737860"/>
            <a:ext cx="548640" cy="54864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737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5623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budget projects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212080" y="56235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free, fast access to open models — exactly what powers our workshop's chatbot!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730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Cheat Sheet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19695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Landscape  ·  September 2026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737360"/>
                <a:gridCol w="2377440"/>
                <a:gridCol w="210312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Provider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Free Tier?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Cheapest Tier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Flagship Price (in/out)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OpenAI (GPT)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Closed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Yes (ChatGPT Free)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GPT-5.4 Nano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$5 / $30 (GPT-5.5)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Anthropic (Claude)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Closed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Yes (Claude Free)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Claude Haiku 4.5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$5 / $25 (Opus 5)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Google (Gemini)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Closed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Yes (Flash / Flash-Lite)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Gemini 3.1 Flash-Lite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$2–$4 / $12–$18 (3.1 Pro)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Meta (Llama)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Open-source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Free to self-host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Free (your compute)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Free (your compute)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Alibaba (Qwen)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Open-source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Free to self-host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$0.03 / $0.13 (hosted)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Free (self-hosted)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</a:rPr>
                        <a:t>DeepSeek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Open-source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Free to self-host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$0.28 / $0.42 (hosted)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</a:rPr>
                        <a:t>Free (self-hosted)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C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2103120"/>
            <a:ext cx="5669280" cy="5669280"/>
          </a:xfrm>
          <a:prstGeom prst="ellipse">
            <a:avLst/>
          </a:prstGeom>
          <a:solidFill>
            <a:srgbClr val="EEF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97680"/>
            <a:ext cx="4572000" cy="4572000"/>
          </a:xfrm>
          <a:prstGeom prst="ellipse">
            <a:avLst/>
          </a:prstGeom>
          <a:solidFill>
            <a:srgbClr val="EEF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 FOR THE JOB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There's No Single “Best” Model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model to the task: free tiers for daily chat, mid-tier models for real work, frontier models for hard problems, and open-source for cost control and privacy.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models change fast — always check each provider's official pricing page before deciding.  |  Data compiled September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Model Landscape</dc:title>
  <dc:subject>PptxGenJS Presentation</dc:subject>
  <dc:creator>Mohan Sivaraman</dc:creator>
  <cp:lastModifiedBy>Mohan Sivaraman</cp:lastModifiedBy>
  <cp:revision>1</cp:revision>
  <dcterms:created xsi:type="dcterms:W3CDTF">2026-09-16T10:39:55Z</dcterms:created>
  <dcterms:modified xsi:type="dcterms:W3CDTF">2026-09-16T10:39:55Z</dcterms:modified>
</cp:coreProperties>
</file>